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ok" id="{e864bcef-b2ef-4f8c-694a-d5f47deac12c}">
          <p14:sldIdLst>
            <p14:sldId id="256"/>
          </p14:sldIdLst>
        </p14:section>
        <p14:section name="Use" id="{18c665ed-8be5-0985-6f5e-7aec066bee45}">
          <p14:sldIdLst>
            <p14:sldId id="257"/>
            <p14:sldId id="258"/>
          </p14:sldIdLst>
        </p14:section>
        <p14:section name="Proof" id="{03ea5c0a-a567-db43-6cd1-e57af16543a0}">
          <p14:sldIdLst>
            <p14:sldId id="259"/>
            <p14:sldId id="260"/>
          </p14:sldIdLst>
        </p14:section>
        <p14:section name="Close" id="{9e013a3f-3336-3de0-2724-b6a2564da91b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Sunny metres avoided</c:v>
                </c:pt>
              </c:strCache>
            </c:strRef>
          </c:tx>
          <c:spPr>
            <a:solidFill>
              <a:srgbClr val="1685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23B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Old Town</c:v>
                  </c:pt>
                  <c:pt idx="1">
                    <c:v>Podgórze</c:v>
                  </c:pt>
                  <c:pt idx="2">
                    <c:v>Nowa Huta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135</c:v>
                </c:pt>
                <c:pt idx="1">
                  <c:v>200</c:v>
                </c:pt>
                <c:pt idx="2">
                  <c:v>125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23B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77B7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destination, a cooler walk. Shady compares the shortest path with a shadier one: here +3 min buys 573 m less sun (16% vs 65% shade).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SHADY_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HADY_BLAN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DY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pic>
        <p:nvPicPr>
          <p:cNvPr id="3" name="Image 0" descr="assets/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617720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98080" y="462686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shady.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451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DY_BLAN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451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ndeluro/shady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cot" descr="assets/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731520" cy="731520"/>
          </a:xfrm>
          <a:prstGeom prst="rect">
            <a:avLst/>
          </a:prstGeom>
        </p:spPr>
      </p:pic>
      <p:sp>
        <p:nvSpPr>
          <p:cNvPr id="3" name="Wordmark"/>
          <p:cNvSpPr txBox="1"/>
          <p:nvPr/>
        </p:nvSpPr>
        <p:spPr>
          <a:xfrm>
            <a:off x="1280160" y="548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shady.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645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</a:rPr>
              <a:t>TAKE THE COOLER WAY</a:t>
            </a:r>
            <a:endParaRPr lang="en-US" sz="1000" dirty="0"/>
          </a:p>
        </p:txBody>
      </p:sp>
      <p:sp>
        <p:nvSpPr>
          <p:cNvPr id="5" name="Hook"/>
          <p:cNvSpPr txBox="1"/>
          <p:nvPr/>
        </p:nvSpPr>
        <p:spPr>
          <a:xfrm>
            <a:off x="457200" y="19202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Same destination, a cooler walk.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Shade-aware walking routes for Kraków.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3520440"/>
            <a:ext cx="196596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35204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HackYeah 2026 · Smart City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42032" y="352044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542032" y="3520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iOS · Android · Web</a:t>
            </a:r>
            <a:endParaRPr lang="en-US" sz="1000" dirty="0"/>
          </a:p>
        </p:txBody>
      </p:sp>
      <p:pic>
        <p:nvPicPr>
          <p:cNvPr id="11" name="Phone shortest" descr="assets/shortest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00000">
            <a:off x="5074920" y="274320"/>
            <a:ext cx="1901952" cy="3840480"/>
          </a:xfrm>
          <a:prstGeom prst="rect">
            <a:avLst/>
          </a:prstGeom>
        </p:spPr>
      </p:pic>
      <p:pic>
        <p:nvPicPr>
          <p:cNvPr id="12" name="Phone more shade" descr="assets/more_shade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0">
            <a:off x="6812280" y="137160"/>
            <a:ext cx="1901952" cy="3840480"/>
          </a:xfrm>
          <a:prstGeom prst="rect">
            <a:avLst/>
          </a:prstGeom>
        </p:spPr>
      </p:pic>
      <p:pic>
        <p:nvPicPr>
          <p:cNvPr id="13" name="Shade comparison cards" descr="assets/cards_cr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697480"/>
            <a:ext cx="2788920" cy="215798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23B35">
                <a:alpha val="18000"/>
              </a:srgbClr>
            </a:outerShdw>
          </a:effectLst>
        </p:spPr>
      </p:pic>
      <p:pic>
        <p:nvPicPr>
          <p:cNvPr id="14" name="Cool mascot" descr="assets/mascot_co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24028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Three taps to a cooler walk</a:t>
            </a:r>
            <a:endParaRPr lang="en-US" sz="2400" dirty="0"/>
          </a:p>
        </p:txBody>
      </p:sp>
      <p:sp>
        <p:nvSpPr>
          <p:cNvPr id="3" name="Step 1"/>
          <p:cNvSpPr/>
          <p:nvPr/>
        </p:nvSpPr>
        <p:spPr>
          <a:xfrm>
            <a:off x="502920" y="1143000"/>
            <a:ext cx="2468880" cy="32461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pic>
        <p:nvPicPr>
          <p:cNvPr id="4" name="Step 1 screenshot" descr="assets/f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07592"/>
            <a:ext cx="2194560" cy="24129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Where to?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0690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Search or long-press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38328" y="978408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" y="978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tep 2"/>
          <p:cNvSpPr/>
          <p:nvPr/>
        </p:nvSpPr>
        <p:spPr>
          <a:xfrm>
            <a:off x="3291840" y="1143000"/>
            <a:ext cx="2468880" cy="32461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pic>
        <p:nvPicPr>
          <p:cNvPr id="10" name="Step 2 screenshot" descr="assets/f_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966" y="1307592"/>
            <a:ext cx="1964629" cy="24231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When?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40690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Slide to any time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127248" y="978408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127248" y="978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tep 3"/>
          <p:cNvSpPr/>
          <p:nvPr/>
        </p:nvSpPr>
        <p:spPr>
          <a:xfrm>
            <a:off x="6080760" y="1143000"/>
            <a:ext cx="2468880" cy="32461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pic>
        <p:nvPicPr>
          <p:cNvPr id="16" name="Step 3 screenshot" descr="assets/cards_ro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624" y="1307592"/>
            <a:ext cx="1835152" cy="24231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&amp; go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40690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Pick your shade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916168" y="978408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916168" y="978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451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Made for everyday walks</a:t>
            </a:r>
            <a:endParaRPr lang="en-US" sz="2400" dirty="0"/>
          </a:p>
        </p:txBody>
      </p:sp>
      <p:sp>
        <p:nvSpPr>
          <p:cNvPr id="3" name="Feature 1"/>
          <p:cNvSpPr/>
          <p:nvPr/>
        </p:nvSpPr>
        <p:spPr>
          <a:xfrm>
            <a:off x="502920" y="1143000"/>
            <a:ext cx="182880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67512" y="1335024"/>
            <a:ext cx="484632" cy="4846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4584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52728" y="1325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Search or pin</a:t>
            </a:r>
            <a:endParaRPr lang="en-US" sz="1200" dirty="0"/>
          </a:p>
        </p:txBody>
      </p:sp>
      <p:sp>
        <p:nvSpPr>
          <p:cNvPr id="7" name="Feature 2"/>
          <p:cNvSpPr/>
          <p:nvPr/>
        </p:nvSpPr>
        <p:spPr>
          <a:xfrm>
            <a:off x="2514600" y="1143000"/>
            <a:ext cx="182880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679192" y="1335024"/>
            <a:ext cx="484632" cy="48463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36" y="145846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64408" y="1325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Clear choice</a:t>
            </a:r>
            <a:endParaRPr lang="en-US" sz="1200" dirty="0"/>
          </a:p>
        </p:txBody>
      </p:sp>
      <p:sp>
        <p:nvSpPr>
          <p:cNvPr id="11" name="Feature 3"/>
          <p:cNvSpPr/>
          <p:nvPr/>
        </p:nvSpPr>
        <p:spPr>
          <a:xfrm>
            <a:off x="502920" y="2240280"/>
            <a:ext cx="182880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7512" y="2432304"/>
            <a:ext cx="484632" cy="4846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255574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52728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Live GPS walk</a:t>
            </a:r>
            <a:endParaRPr lang="en-US" sz="1200" dirty="0"/>
          </a:p>
        </p:txBody>
      </p:sp>
      <p:sp>
        <p:nvSpPr>
          <p:cNvPr id="15" name="Feature 4"/>
          <p:cNvSpPr/>
          <p:nvPr/>
        </p:nvSpPr>
        <p:spPr>
          <a:xfrm>
            <a:off x="2514600" y="2240280"/>
            <a:ext cx="182880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679192" y="2432304"/>
            <a:ext cx="484632" cy="48463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636" y="25557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264408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Whole city</a:t>
            </a:r>
            <a:endParaRPr lang="en-US" sz="1200" dirty="0"/>
          </a:p>
        </p:txBody>
      </p:sp>
      <p:sp>
        <p:nvSpPr>
          <p:cNvPr id="19" name="Feature 5"/>
          <p:cNvSpPr/>
          <p:nvPr/>
        </p:nvSpPr>
        <p:spPr>
          <a:xfrm>
            <a:off x="502920" y="3337560"/>
            <a:ext cx="182880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67512" y="3529584"/>
            <a:ext cx="484632" cy="4846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" y="365302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52728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Works offline</a:t>
            </a:r>
            <a:endParaRPr lang="en-US" sz="1200" dirty="0"/>
          </a:p>
        </p:txBody>
      </p:sp>
      <p:sp>
        <p:nvSpPr>
          <p:cNvPr id="23" name="Feature 6"/>
          <p:cNvSpPr/>
          <p:nvPr/>
        </p:nvSpPr>
        <p:spPr>
          <a:xfrm>
            <a:off x="2514600" y="3337560"/>
            <a:ext cx="182880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2679192" y="3529584"/>
            <a:ext cx="484632" cy="48463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2636" y="3653028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264408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Private by design</a:t>
            </a:r>
            <a:endParaRPr lang="en-US" sz="1200" dirty="0"/>
          </a:p>
        </p:txBody>
      </p:sp>
      <p:pic>
        <p:nvPicPr>
          <p:cNvPr id="27" name="Phone walking" descr="assets/walk_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240000">
            <a:off x="4846320" y="960120"/>
            <a:ext cx="1676273" cy="3429000"/>
          </a:xfrm>
          <a:prstGeom prst="rect">
            <a:avLst/>
          </a:prstGeom>
        </p:spPr>
      </p:pic>
      <p:pic>
        <p:nvPicPr>
          <p:cNvPr id="28" name="Phone arrived" descr="assets/arrived_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40000">
            <a:off x="6812280" y="960120"/>
            <a:ext cx="1676273" cy="342900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 rot="-240000">
            <a:off x="4983480" y="4224528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0" name="Text 20"/>
          <p:cNvSpPr txBox="1"/>
          <p:nvPr/>
        </p:nvSpPr>
        <p:spPr>
          <a:xfrm rot="-240000">
            <a:off x="4983480" y="42245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On the way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 rot="240000">
            <a:off x="6903720" y="4224528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2" name="Text 22"/>
          <p:cNvSpPr txBox="1"/>
          <p:nvPr/>
        </p:nvSpPr>
        <p:spPr>
          <a:xfrm rot="240000">
            <a:off x="6903720" y="42245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You made it!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451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Real city. Real data. Real fast</a:t>
            </a:r>
            <a:endParaRPr lang="en-US" sz="2400" dirty="0"/>
          </a:p>
        </p:txBody>
      </p:sp>
      <p:sp>
        <p:nvSpPr>
          <p:cNvPr id="3" name="Number 1"/>
          <p:cNvSpPr/>
          <p:nvPr/>
        </p:nvSpPr>
        <p:spPr>
          <a:xfrm>
            <a:off x="502920" y="1143000"/>
            <a:ext cx="1874520" cy="146304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2588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8013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408k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1284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walking paths</a:t>
            </a:r>
            <a:endParaRPr lang="en-US" sz="1000" dirty="0"/>
          </a:p>
        </p:txBody>
      </p:sp>
      <p:sp>
        <p:nvSpPr>
          <p:cNvPr id="8" name="Number 2"/>
          <p:cNvSpPr/>
          <p:nvPr/>
        </p:nvSpPr>
        <p:spPr>
          <a:xfrm>
            <a:off x="2606040" y="1143000"/>
            <a:ext cx="1874520" cy="146304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88920" y="132588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41732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18013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4,641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221284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wooded areas</a:t>
            </a:r>
            <a:endParaRPr lang="en-US" sz="1000" dirty="0"/>
          </a:p>
        </p:txBody>
      </p:sp>
      <p:sp>
        <p:nvSpPr>
          <p:cNvPr id="13" name="Number 3"/>
          <p:cNvSpPr/>
          <p:nvPr/>
        </p:nvSpPr>
        <p:spPr>
          <a:xfrm>
            <a:off x="502920" y="2834640"/>
            <a:ext cx="1874520" cy="146304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01752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0896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" y="34930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+25%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9044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max extra distance</a:t>
            </a:r>
            <a:endParaRPr lang="en-US" sz="1000" dirty="0"/>
          </a:p>
        </p:txBody>
      </p:sp>
      <p:sp>
        <p:nvSpPr>
          <p:cNvPr id="18" name="Number 4"/>
          <p:cNvSpPr/>
          <p:nvPr/>
        </p:nvSpPr>
        <p:spPr>
          <a:xfrm>
            <a:off x="2606040" y="2834640"/>
            <a:ext cx="1874520" cy="146304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88920" y="301752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310896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788920" y="34930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0.1 s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2788920" y="39044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per route</a:t>
            </a:r>
            <a:endParaRPr lang="en-US" sz="1000" dirty="0"/>
          </a:p>
        </p:txBody>
      </p:sp>
      <p:sp>
        <p:nvSpPr>
          <p:cNvPr id="23" name="Chart card"/>
          <p:cNvSpPr/>
          <p:nvPr/>
        </p:nvSpPr>
        <p:spPr>
          <a:xfrm>
            <a:off x="4892040" y="1143000"/>
            <a:ext cx="3749040" cy="315468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512064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Metres of sun avoided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029200" y="164592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Text 19"/>
          <p:cNvSpPr txBox="1"/>
          <p:nvPr/>
        </p:nvSpPr>
        <p:spPr>
          <a:xfrm>
            <a:off x="5120640" y="3931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Real routes, summer midday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451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How it works</a:t>
            </a:r>
            <a:endParaRPr lang="en-US" sz="2400" dirty="0"/>
          </a:p>
        </p:txBody>
      </p:sp>
      <p:sp>
        <p:nvSpPr>
          <p:cNvPr id="3" name="Flow 1"/>
          <p:cNvSpPr/>
          <p:nvPr/>
        </p:nvSpPr>
        <p:spPr>
          <a:xfrm>
            <a:off x="502920" y="1417320"/>
            <a:ext cx="1417320" cy="201168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819656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6072" y="251460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Open data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76072" y="2788920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OSM + 3D buildings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331720"/>
            <a:ext cx="182880" cy="182880"/>
          </a:xfrm>
          <a:prstGeom prst="rect">
            <a:avLst/>
          </a:prstGeom>
        </p:spPr>
      </p:pic>
      <p:sp>
        <p:nvSpPr>
          <p:cNvPr id="9" name="Flow 2"/>
          <p:cNvSpPr/>
          <p:nvPr/>
        </p:nvSpPr>
        <p:spPr>
          <a:xfrm>
            <a:off x="2176272" y="1417320"/>
            <a:ext cx="1417320" cy="201168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542032" y="16459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819656"/>
            <a:ext cx="338328" cy="33832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249424" y="251460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Sun position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2249424" y="2788920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for your time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331720"/>
            <a:ext cx="182880" cy="182880"/>
          </a:xfrm>
          <a:prstGeom prst="rect">
            <a:avLst/>
          </a:prstGeom>
        </p:spPr>
      </p:pic>
      <p:sp>
        <p:nvSpPr>
          <p:cNvPr id="15" name="Flow 3"/>
          <p:cNvSpPr/>
          <p:nvPr/>
        </p:nvSpPr>
        <p:spPr>
          <a:xfrm>
            <a:off x="3849624" y="1417320"/>
            <a:ext cx="1417320" cy="201168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215384" y="16459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819656"/>
            <a:ext cx="338328" cy="33832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922776" y="251460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Shadow map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3922776" y="2788920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buildings &amp; trees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664" y="2331720"/>
            <a:ext cx="182880" cy="182880"/>
          </a:xfrm>
          <a:prstGeom prst="rect">
            <a:avLst/>
          </a:prstGeom>
        </p:spPr>
      </p:pic>
      <p:sp>
        <p:nvSpPr>
          <p:cNvPr id="21" name="Flow 4"/>
          <p:cNvSpPr/>
          <p:nvPr/>
        </p:nvSpPr>
        <p:spPr>
          <a:xfrm>
            <a:off x="5522976" y="1417320"/>
            <a:ext cx="1417320" cy="2011680"/>
          </a:xfrm>
          <a:prstGeom prst="roundRect">
            <a:avLst>
              <a:gd name="adj" fmla="val 11613"/>
            </a:avLst>
          </a:prstGeom>
          <a:solidFill>
            <a:schemeClr val="accent1"/>
          </a:solidFill>
          <a:ln w="19050">
            <a:solidFill>
              <a:srgbClr val="16857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5888736" y="1645920"/>
            <a:ext cx="685800" cy="6858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472" y="1819656"/>
            <a:ext cx="338328" cy="33832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5596128" y="251460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Smart route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5596128" y="2788920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least sun, max +25%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2331720"/>
            <a:ext cx="182880" cy="182880"/>
          </a:xfrm>
          <a:prstGeom prst="rect">
            <a:avLst/>
          </a:prstGeom>
        </p:spPr>
      </p:pic>
      <p:sp>
        <p:nvSpPr>
          <p:cNvPr id="27" name="Flow 5"/>
          <p:cNvSpPr/>
          <p:nvPr/>
        </p:nvSpPr>
        <p:spPr>
          <a:xfrm>
            <a:off x="7196328" y="1417320"/>
            <a:ext cx="1417320" cy="2011680"/>
          </a:xfrm>
          <a:prstGeom prst="roundRect">
            <a:avLst>
              <a:gd name="adj" fmla="val 11613"/>
            </a:avLst>
          </a:prstGeom>
          <a:solidFill>
            <a:schemeClr val="bg1"/>
          </a:solidFill>
          <a:ln w="19050">
            <a:solidFill>
              <a:srgbClr val="CADFD5"/>
            </a:solidFill>
            <a:prstDash val="solid"/>
          </a:ln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7562088" y="16459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5824" y="1819656"/>
            <a:ext cx="338328" cy="338328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269480" y="251460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Your phone</a:t>
            </a:r>
            <a:endParaRPr lang="en-US" sz="1200" dirty="0"/>
          </a:p>
        </p:txBody>
      </p:sp>
      <p:sp>
        <p:nvSpPr>
          <p:cNvPr id="31" name="Text 20"/>
          <p:cNvSpPr txBox="1"/>
          <p:nvPr/>
        </p:nvSpPr>
        <p:spPr>
          <a:xfrm>
            <a:off x="7269480" y="2788920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compare &amp; walk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502920" y="384048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3" name="Text 22"/>
          <p:cNvSpPr txBox="1"/>
          <p:nvPr/>
        </p:nvSpPr>
        <p:spPr>
          <a:xfrm>
            <a:off x="502920" y="38404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React Native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1783080" y="384048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5" name="Text 24"/>
          <p:cNvSpPr txBox="1"/>
          <p:nvPr/>
        </p:nvSpPr>
        <p:spPr>
          <a:xfrm>
            <a:off x="1783080" y="38404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FastAPI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3063240" y="384048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7" name="Text 26"/>
          <p:cNvSpPr txBox="1"/>
          <p:nvPr/>
        </p:nvSpPr>
        <p:spPr>
          <a:xfrm>
            <a:off x="3063240" y="38404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OSMnx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4343400" y="384048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9" name="Text 28"/>
          <p:cNvSpPr txBox="1"/>
          <p:nvPr/>
        </p:nvSpPr>
        <p:spPr>
          <a:xfrm>
            <a:off x="4343400" y="38404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pvlib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5623560" y="3840480"/>
            <a:ext cx="114300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1" name="Text 30"/>
          <p:cNvSpPr txBox="1"/>
          <p:nvPr/>
        </p:nvSpPr>
        <p:spPr>
          <a:xfrm>
            <a:off x="5623560" y="38404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95% tested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6451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ol mascot" descr="assets/mascot_c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4572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148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shady.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2880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Take the cooler way through Kraków.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971800" y="3611880"/>
            <a:ext cx="3200400" cy="42062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50800" dir="2700000">
              <a:srgbClr val="CADFD5">
                <a:alpha val="10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712464"/>
            <a:ext cx="219456" cy="219456"/>
          </a:xfrm>
          <a:prstGeom prst="rect">
            <a:avLst/>
          </a:prstGeom>
        </p:spPr>
      </p:pic>
      <p:sp>
        <p:nvSpPr>
          <p:cNvPr id="7" name="Text 3">
            <a:hlinkClick r:id="rId3" tooltip=""/>
          </p:cNvPr>
          <p:cNvSpPr txBox="1"/>
          <p:nvPr/>
        </p:nvSpPr>
        <p:spPr>
          <a:xfrm>
            <a:off x="3520440" y="36118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github.com/undeluro/shady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dy">
  <a:themeElements>
    <a:clrScheme name="Shady">
      <a:dk1>
        <a:srgbClr val="123B35"/>
      </a:dk1>
      <a:lt1>
        <a:srgbClr val="FFFFFF"/>
      </a:lt1>
      <a:dk2>
        <a:srgbClr val="577B74"/>
      </a:dk2>
      <a:lt2>
        <a:srgbClr val="F5FAF8"/>
      </a:lt2>
      <a:accent1>
        <a:srgbClr val="168575"/>
      </a:accent1>
      <a:accent2>
        <a:srgbClr val="FFC857"/>
      </a:accent2>
      <a:accent3>
        <a:srgbClr val="D8EFEA"/>
      </a:accent3>
      <a:accent4>
        <a:srgbClr val="7FA88C"/>
      </a:accent4>
      <a:accent5>
        <a:srgbClr val="FFF1CE"/>
      </a:accent5>
      <a:accent6>
        <a:srgbClr val="CADFD5"/>
      </a:accent6>
      <a:hlink>
        <a:srgbClr val="168575"/>
      </a:hlink>
      <a:folHlink>
        <a:srgbClr val="577B74"/>
      </a:folHlink>
    </a:clrScheme>
    <a:fontScheme name="Shady">
      <a:majorFont>
        <a:latin typeface="Nun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Shady — Same destination, a cooler walk</dc:title>
  <dc:subject>PptxGenJS Presentation</dc:subject>
  <dc:creator>Shady team</dc:creator>
  <cp:lastModifiedBy>Shady team</cp:lastModifiedBy>
  <cp:revision>1</cp:revision>
  <dcterms:created xsi:type="dcterms:W3CDTF">2026-10-03T23:56:45Z</dcterms:created>
  <dcterms:modified xsi:type="dcterms:W3CDTF">2026-10-03T23:56:45Z</dcterms:modified>
</cp:coreProperties>
</file>